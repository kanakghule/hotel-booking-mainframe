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174FFD-33C7-46FB-9608-3ACD49125C9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98989"/>
                </a:solidFill>
                <a:latin typeface="Calibri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459C90B-CA0C-4A36-88C6-C30D5A6924A6}" type="datetime">
              <a:rPr b="0" lang="en-US" sz="1200" spc="-1" strike="noStrike">
                <a:solidFill>
                  <a:srgbClr val="898989"/>
                </a:solidFill>
                <a:latin typeface="Calibri"/>
              </a:rPr>
              <a:t>10/05/26</a:t>
            </a:fld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898989"/>
                </a:solidFill>
                <a:latin typeface="Calibri"/>
              </a:rPr>
              <a:t>Department of Computer Engineering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AE56317-D34B-460D-B193-38CEC1847903}" type="slidenum">
              <a:rPr b="0" lang="en-US" sz="1200" spc="-1" strike="noStrike">
                <a:solidFill>
                  <a:srgbClr val="898989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/>
          </p:nvPr>
        </p:nvSpPr>
        <p:spPr>
          <a:xfrm>
            <a:off x="228600" y="1447920"/>
            <a:ext cx="8648640" cy="358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lnSpc>
                <a:spcPct val="8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70c0"/>
                </a:solidFill>
                <a:latin typeface="Calibri"/>
              </a:rPr>
              <a:t>Mainframe Technology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 algn="ctr">
              <a:lnSpc>
                <a:spcPct val="8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pc="-1" strike="noStrike">
                <a:solidFill>
                  <a:srgbClr val="0070c0"/>
                </a:solidFill>
                <a:latin typeface="Calibri"/>
              </a:rPr>
              <a:t>(</a:t>
            </a:r>
            <a:r>
              <a:rPr b="1" lang="en-US" sz="2400" spc="-1" strike="noStrike">
                <a:solidFill>
                  <a:srgbClr val="0070c0"/>
                </a:solidFill>
                <a:latin typeface="Calibri"/>
              </a:rPr>
              <a:t>ID3002)</a:t>
            </a:r>
            <a:r>
              <a:rPr b="1" lang="en-IN" sz="2400" spc="-1" strike="noStrike">
                <a:solidFill>
                  <a:srgbClr val="0070c0"/>
                </a:solidFill>
                <a:latin typeface="Calibri"/>
              </a:rPr>
              <a:t>(PEC-I)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 algn="ctr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 algn="ctr">
              <a:lnSpc>
                <a:spcPct val="8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70c0"/>
                </a:solidFill>
                <a:latin typeface="Calibri"/>
              </a:rPr>
              <a:t>Project Title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 algn="ctr">
              <a:lnSpc>
                <a:spcPct val="8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 algn="ctr">
              <a:lnSpc>
                <a:spcPct val="8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Text Box 3"/>
          <p:cNvSpPr/>
          <p:nvPr/>
        </p:nvSpPr>
        <p:spPr>
          <a:xfrm>
            <a:off x="2525400" y="5334120"/>
            <a:ext cx="409284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Arial"/>
              </a:rPr>
              <a:t>Mentor:   Mrs Madhura Sanap(VIT, Pune)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Arial"/>
              </a:rPr>
              <a:t>AY: 2026-27(Sem-1)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7" name="Picture 1" descr=""/>
          <p:cNvPicPr/>
          <p:nvPr/>
        </p:nvPicPr>
        <p:blipFill>
          <a:blip r:embed="rId1"/>
          <a:stretch/>
        </p:blipFill>
        <p:spPr>
          <a:xfrm>
            <a:off x="8153280" y="152280"/>
            <a:ext cx="723960" cy="99072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8" name=""/>
          <p:cNvGraphicFramePr/>
          <p:nvPr/>
        </p:nvGraphicFramePr>
        <p:xfrm>
          <a:off x="266760" y="3048120"/>
          <a:ext cx="8610480" cy="2124000"/>
        </p:xfrm>
        <a:graphic>
          <a:graphicData uri="http://schemas.openxmlformats.org/drawingml/2006/table">
            <a:tbl>
              <a:tblPr/>
              <a:tblGrid>
                <a:gridCol w="630000"/>
                <a:gridCol w="855720"/>
                <a:gridCol w="685800"/>
                <a:gridCol w="592200"/>
                <a:gridCol w="1362240"/>
                <a:gridCol w="944280"/>
                <a:gridCol w="3540240"/>
              </a:tblGrid>
              <a:tr h="640440">
                <a:tc>
                  <a:txBody>
                    <a:bodyPr lIns="90000" rIns="900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Sr. No.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Branch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Div.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PRN No.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Roll No.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Name of Students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37152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</a:tr>
              <a:tr h="37152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</a:tr>
              <a:tr h="36972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</a:tr>
              <a:tr h="37080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4.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9" name="Date Placeholder 2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4F1D77A-9988-4A2C-8076-124CFDA039E3}" type="datetime">
              <a:rPr b="0" lang="en-US" sz="1200" spc="-1" strike="noStrike">
                <a:solidFill>
                  <a:srgbClr val="898989"/>
                </a:solidFill>
                <a:latin typeface="Calibri"/>
              </a:rPr>
              <a:t>10/05/26</a:t>
            </a:fld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Slide Number Placeholder 3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70268E6-45AF-4AFB-AB49-0BE0AD8EE8AE}" type="slidenum">
              <a:rPr b="0" lang="en-US" sz="1200" spc="-1" strike="noStrike">
                <a:solidFill>
                  <a:srgbClr val="898989"/>
                </a:solidFill>
                <a:latin typeface="Calibri"/>
                <a:ea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Footer Placeholder 4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898989"/>
                </a:solidFill>
                <a:latin typeface="Calibri"/>
              </a:rPr>
              <a:t>Department of Computer Engineering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TextBox 5"/>
          <p:cNvSpPr/>
          <p:nvPr/>
        </p:nvSpPr>
        <p:spPr>
          <a:xfrm>
            <a:off x="1219320" y="241200"/>
            <a:ext cx="624816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Arial"/>
              </a:rPr>
              <a:t>BRACT’s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Arial"/>
              </a:rPr>
              <a:t>Vishwakarma Institute of Technology, Pune-37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Arial"/>
              </a:rPr>
              <a:t>Department of Computer Engineering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04560" y="533160"/>
            <a:ext cx="8458200" cy="53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000" spc="-1" strike="noStrike">
                <a:solidFill>
                  <a:srgbClr val="4f81bd"/>
                </a:solidFill>
                <a:latin typeface="Calibri"/>
              </a:rPr>
              <a:t>Project Overview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(Purpose and scope of the solution) 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	</a:t>
            </a:r>
            <a:br>
              <a:rPr sz="3200"/>
            </a:b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423720" y="1066320"/>
            <a:ext cx="8568000" cy="40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just">
              <a:lnSpc>
                <a:spcPct val="10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601"/>
              </a:spcBef>
              <a:spcAft>
                <a:spcPts val="1199"/>
              </a:spcAft>
              <a:buClr>
                <a:srgbClr val="0f172a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f172a"/>
                </a:solidFill>
                <a:latin typeface="Calibri"/>
              </a:rPr>
              <a:t>Purpose and scope of the solution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601"/>
              </a:spcBef>
              <a:spcAft>
                <a:spcPts val="1199"/>
              </a:spcAft>
              <a:buClr>
                <a:srgbClr val="0f172a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f172a"/>
                </a:solidFill>
                <a:latin typeface="Calibri"/>
              </a:rPr>
              <a:t>Business problem / use case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601"/>
              </a:spcBef>
              <a:spcAft>
                <a:spcPts val="1199"/>
              </a:spcAft>
              <a:buClr>
                <a:srgbClr val="0f172a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f172a"/>
                </a:solidFill>
                <a:latin typeface="Calibri"/>
              </a:rPr>
              <a:t>Project objectives and expected outcomes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601"/>
              </a:spcBef>
              <a:spcAft>
                <a:spcPts val="1199"/>
              </a:spcAft>
              <a:buClr>
                <a:srgbClr val="0f172a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f172a"/>
                </a:solidFill>
                <a:latin typeface="Calibri"/>
              </a:rPr>
              <a:t>Target users / stakeholders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601"/>
              </a:spcBef>
              <a:spcAft>
                <a:spcPts val="1199"/>
              </a:spcAft>
              <a:buClr>
                <a:srgbClr val="0f172a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f172a"/>
                </a:solidFill>
                <a:latin typeface="Calibri"/>
              </a:rPr>
              <a:t>High-level scope and assumptions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5" name="Picture 3" descr=""/>
          <p:cNvPicPr/>
          <p:nvPr/>
        </p:nvPicPr>
        <p:blipFill>
          <a:blip r:embed="rId1"/>
          <a:stretch/>
        </p:blipFill>
        <p:spPr>
          <a:xfrm>
            <a:off x="8077320" y="152280"/>
            <a:ext cx="723960" cy="762120"/>
          </a:xfrm>
          <a:prstGeom prst="rect">
            <a:avLst/>
          </a:prstGeom>
          <a:ln w="0">
            <a:noFill/>
          </a:ln>
        </p:spPr>
      </p:pic>
      <p:sp>
        <p:nvSpPr>
          <p:cNvPr id="16" name="Date Placeholder 1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B71BED0-605D-484B-8F6E-D589CB38941F}" type="datetime">
              <a:rPr b="0" lang="en-US" sz="1200" spc="-1" strike="noStrike">
                <a:solidFill>
                  <a:srgbClr val="898989"/>
                </a:solidFill>
                <a:latin typeface="Calibri"/>
              </a:rPr>
              <a:t>10/05/26</a:t>
            </a:fld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Slide Number Placeholder 2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D15F80A-0CF3-4406-9D46-5F1F534BE913}" type="slidenum">
              <a:rPr b="0" lang="en-US" sz="1200" spc="-1" strike="noStrike">
                <a:solidFill>
                  <a:srgbClr val="898989"/>
                </a:solidFill>
                <a:latin typeface="Calibri"/>
                <a:ea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Footer Placeholder 3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898989"/>
                </a:solidFill>
                <a:latin typeface="Calibri"/>
              </a:rPr>
              <a:t>Department of Computer Engineering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04560" y="533160"/>
            <a:ext cx="8458200" cy="53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000" spc="-1" strike="noStrike">
                <a:solidFill>
                  <a:srgbClr val="4f81bd"/>
                </a:solidFill>
                <a:latin typeface="Calibri"/>
              </a:rPr>
              <a:t>Abstract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(</a:t>
            </a:r>
            <a:r>
              <a:rPr b="0" lang="en-IN" sz="1400" spc="-1" strike="noStrike">
                <a:solidFill>
                  <a:srgbClr val="000000"/>
                </a:solidFill>
                <a:latin typeface="Calibri"/>
              </a:rPr>
              <a:t>Executive summary)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	</a:t>
            </a:r>
            <a:br>
              <a:rPr sz="3200"/>
            </a:b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23720" y="1066320"/>
            <a:ext cx="8568000" cy="40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just">
              <a:lnSpc>
                <a:spcPct val="10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601"/>
              </a:spcBef>
              <a:spcAft>
                <a:spcPts val="1199"/>
              </a:spcAft>
              <a:buClr>
                <a:srgbClr val="0f172a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f172a"/>
                </a:solidFill>
                <a:latin typeface="Calibri"/>
              </a:rPr>
              <a:t>Problem addressed and motivation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601"/>
              </a:spcBef>
              <a:spcAft>
                <a:spcPts val="1199"/>
              </a:spcAft>
              <a:buClr>
                <a:srgbClr val="0f172a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f172a"/>
                </a:solidFill>
                <a:latin typeface="Calibri"/>
              </a:rPr>
              <a:t>Mainframe-based solution proposed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601"/>
              </a:spcBef>
              <a:spcAft>
                <a:spcPts val="1199"/>
              </a:spcAft>
              <a:buClr>
                <a:srgbClr val="0f172a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f172a"/>
                </a:solidFill>
                <a:latin typeface="Calibri"/>
              </a:rPr>
              <a:t>Technologies: JCL, COBOL, REXX and DB2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601"/>
              </a:spcBef>
              <a:spcAft>
                <a:spcPts val="1199"/>
              </a:spcAft>
              <a:buClr>
                <a:srgbClr val="0f172a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f172a"/>
                </a:solidFill>
                <a:latin typeface="Calibri"/>
              </a:rPr>
              <a:t>Key results / benefits achieved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1" name="Picture 3" descr=""/>
          <p:cNvPicPr/>
          <p:nvPr/>
        </p:nvPicPr>
        <p:blipFill>
          <a:blip r:embed="rId1"/>
          <a:stretch/>
        </p:blipFill>
        <p:spPr>
          <a:xfrm>
            <a:off x="8077320" y="152280"/>
            <a:ext cx="723960" cy="762120"/>
          </a:xfrm>
          <a:prstGeom prst="rect">
            <a:avLst/>
          </a:prstGeom>
          <a:ln w="0">
            <a:noFill/>
          </a:ln>
        </p:spPr>
      </p:pic>
      <p:sp>
        <p:nvSpPr>
          <p:cNvPr id="22" name="Date Placeholder 1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4026904-62F4-4F10-B0F7-09C235236548}" type="datetime">
              <a:rPr b="0" lang="en-US" sz="1200" spc="-1" strike="noStrike">
                <a:solidFill>
                  <a:srgbClr val="898989"/>
                </a:solidFill>
                <a:latin typeface="Calibri"/>
              </a:rPr>
              <a:t>10/05/26</a:t>
            </a:fld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Slide Number Placeholder 2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7B7D203-B7A2-41C8-AFAF-B65BEF613D91}" type="slidenum">
              <a:rPr b="0" lang="en-US" sz="1200" spc="-1" strike="noStrike">
                <a:solidFill>
                  <a:srgbClr val="898989"/>
                </a:solidFill>
                <a:latin typeface="Calibri"/>
                <a:ea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Footer Placeholder 3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898989"/>
                </a:solidFill>
                <a:latin typeface="Calibri"/>
              </a:rPr>
              <a:t>Department of Computer Engineering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04560" y="533160"/>
            <a:ext cx="8458200" cy="53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000" spc="-1" strike="noStrike">
                <a:solidFill>
                  <a:srgbClr val="4f81bd"/>
                </a:solidFill>
                <a:latin typeface="Calibri"/>
              </a:rPr>
              <a:t>Introduction</a:t>
            </a:r>
            <a:r>
              <a:rPr b="0" lang="en-US" sz="1400" spc="-1" strike="noStrike">
                <a:solidFill>
                  <a:srgbClr val="4f81bd"/>
                </a:solidFill>
                <a:latin typeface="Calibri"/>
              </a:rPr>
              <a:t>(</a:t>
            </a:r>
            <a:r>
              <a:rPr b="0" lang="en-IN" sz="1400" spc="-1" strike="noStrike">
                <a:solidFill>
                  <a:srgbClr val="000000"/>
                </a:solidFill>
                <a:latin typeface="Calibri"/>
              </a:rPr>
              <a:t>Business and technical context)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	</a:t>
            </a:r>
            <a:br>
              <a:rPr sz="3200"/>
            </a:b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23720" y="1066320"/>
            <a:ext cx="8568000" cy="40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just">
              <a:lnSpc>
                <a:spcPct val="10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601"/>
              </a:spcBef>
              <a:spcAft>
                <a:spcPts val="1199"/>
              </a:spcAft>
              <a:buClr>
                <a:srgbClr val="0f172a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f172a"/>
                </a:solidFill>
                <a:latin typeface="Calibri"/>
              </a:rPr>
              <a:t>Background of the application / domain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601"/>
              </a:spcBef>
              <a:spcAft>
                <a:spcPts val="1199"/>
              </a:spcAft>
              <a:buClr>
                <a:srgbClr val="0f172a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f172a"/>
                </a:solidFill>
                <a:latin typeface="Calibri"/>
              </a:rPr>
              <a:t>Why mainframe is suitable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601"/>
              </a:spcBef>
              <a:spcAft>
                <a:spcPts val="1199"/>
              </a:spcAft>
              <a:buClr>
                <a:srgbClr val="0f172a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f172a"/>
                </a:solidFill>
                <a:latin typeface="Calibri"/>
              </a:rPr>
              <a:t>Existing process and pain points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601"/>
              </a:spcBef>
              <a:spcAft>
                <a:spcPts val="1199"/>
              </a:spcAft>
              <a:buClr>
                <a:srgbClr val="0f172a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f172a"/>
                </a:solidFill>
                <a:latin typeface="Calibri"/>
              </a:rPr>
              <a:t>Proposed solution at a glance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7" name="Picture 3" descr=""/>
          <p:cNvPicPr/>
          <p:nvPr/>
        </p:nvPicPr>
        <p:blipFill>
          <a:blip r:embed="rId1"/>
          <a:stretch/>
        </p:blipFill>
        <p:spPr>
          <a:xfrm>
            <a:off x="8077320" y="152280"/>
            <a:ext cx="723960" cy="762120"/>
          </a:xfrm>
          <a:prstGeom prst="rect">
            <a:avLst/>
          </a:prstGeom>
          <a:ln w="0">
            <a:noFill/>
          </a:ln>
        </p:spPr>
      </p:pic>
      <p:sp>
        <p:nvSpPr>
          <p:cNvPr id="28" name="Date Placeholder 1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98AC222-423E-4F0B-9DB7-38F88C7FE2FA}" type="datetime">
              <a:rPr b="0" lang="en-US" sz="1200" spc="-1" strike="noStrike">
                <a:solidFill>
                  <a:srgbClr val="898989"/>
                </a:solidFill>
                <a:latin typeface="Calibri"/>
              </a:rPr>
              <a:t>10/05/26</a:t>
            </a:fld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Slide Number Placeholder 2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4B1B807-A356-42BE-9AD8-1685F6693689}" type="slidenum">
              <a:rPr b="0" lang="en-US" sz="1200" spc="-1" strike="noStrike">
                <a:solidFill>
                  <a:srgbClr val="898989"/>
                </a:solidFill>
                <a:latin typeface="Calibri"/>
                <a:ea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Footer Placeholder 3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898989"/>
                </a:solidFill>
                <a:latin typeface="Calibri"/>
              </a:rPr>
              <a:t>Department of Computer Engineering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04560" y="533160"/>
            <a:ext cx="8458200" cy="53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000" spc="-1" strike="noStrike">
                <a:solidFill>
                  <a:srgbClr val="4f81bd"/>
                </a:solidFill>
                <a:latin typeface="Calibri"/>
              </a:rPr>
              <a:t>Problem Statement &amp; Objectives</a:t>
            </a:r>
            <a:r>
              <a:rPr b="0" lang="en-US" sz="1400" spc="-1" strike="noStrike">
                <a:solidFill>
                  <a:srgbClr val="4f81bd"/>
                </a:solidFill>
                <a:latin typeface="Calibri"/>
              </a:rPr>
              <a:t>(</a:t>
            </a:r>
            <a:r>
              <a:rPr b="0" lang="en-IN" sz="1400" spc="-1" strike="noStrike">
                <a:solidFill>
                  <a:srgbClr val="000000"/>
                </a:solidFill>
                <a:latin typeface="Calibri"/>
              </a:rPr>
              <a:t>What the project solves)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	</a:t>
            </a:r>
            <a:br>
              <a:rPr sz="3200"/>
            </a:b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23720" y="1066320"/>
            <a:ext cx="8568000" cy="40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just">
              <a:lnSpc>
                <a:spcPct val="10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601"/>
              </a:spcBef>
              <a:spcAft>
                <a:spcPts val="1199"/>
              </a:spcAft>
              <a:buClr>
                <a:srgbClr val="0f172a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f172a"/>
                </a:solidFill>
                <a:latin typeface="Calibri"/>
              </a:rPr>
              <a:t>Clearly define the business problem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601"/>
              </a:spcBef>
              <a:spcAft>
                <a:spcPts val="1199"/>
              </a:spcAft>
              <a:buClr>
                <a:srgbClr val="0f172a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f172a"/>
                </a:solidFill>
                <a:latin typeface="Calibri"/>
              </a:rPr>
              <a:t>Identify functional and non-functional requirements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601"/>
              </a:spcBef>
              <a:spcAft>
                <a:spcPts val="1199"/>
              </a:spcAft>
              <a:buClr>
                <a:srgbClr val="0f172a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f172a"/>
                </a:solidFill>
                <a:latin typeface="Calibri"/>
              </a:rPr>
              <a:t>Reduce manual processing / errors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601"/>
              </a:spcBef>
              <a:spcAft>
                <a:spcPts val="1199"/>
              </a:spcAft>
              <a:buClr>
                <a:srgbClr val="0f172a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f172a"/>
                </a:solidFill>
                <a:latin typeface="Calibri"/>
              </a:rPr>
              <a:t>Improve reliability, performance and maintainability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3" name="Picture 3" descr=""/>
          <p:cNvPicPr/>
          <p:nvPr/>
        </p:nvPicPr>
        <p:blipFill>
          <a:blip r:embed="rId1"/>
          <a:stretch/>
        </p:blipFill>
        <p:spPr>
          <a:xfrm>
            <a:off x="8077320" y="152280"/>
            <a:ext cx="723960" cy="762120"/>
          </a:xfrm>
          <a:prstGeom prst="rect">
            <a:avLst/>
          </a:prstGeom>
          <a:ln w="0">
            <a:noFill/>
          </a:ln>
        </p:spPr>
      </p:pic>
      <p:sp>
        <p:nvSpPr>
          <p:cNvPr id="34" name="Date Placeholder 1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2E92595-7D70-4D97-87B7-368EF3B60D16}" type="datetime">
              <a:rPr b="0" lang="en-US" sz="1200" spc="-1" strike="noStrike">
                <a:solidFill>
                  <a:srgbClr val="898989"/>
                </a:solidFill>
                <a:latin typeface="Calibri"/>
              </a:rPr>
              <a:t>10/05/26</a:t>
            </a:fld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Slide Number Placeholder 2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BE7E506-42F4-4C55-B3AB-4BBA84835C3D}" type="slidenum">
              <a:rPr b="0" lang="en-US" sz="1200" spc="-1" strike="noStrike">
                <a:solidFill>
                  <a:srgbClr val="898989"/>
                </a:solidFill>
                <a:latin typeface="Calibri"/>
                <a:ea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Footer Placeholder 3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898989"/>
                </a:solidFill>
                <a:latin typeface="Calibri"/>
              </a:rPr>
              <a:t>Department of Computer Engineering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304560" y="533160"/>
            <a:ext cx="8458200" cy="53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000" spc="-1" strike="noStrike">
                <a:solidFill>
                  <a:srgbClr val="4f81bd"/>
                </a:solidFill>
                <a:latin typeface="Calibri"/>
              </a:rPr>
              <a:t>Mainframe Architecture</a:t>
            </a:r>
            <a:r>
              <a:rPr b="0" lang="en-US" sz="1400" spc="-1" strike="noStrike">
                <a:solidFill>
                  <a:srgbClr val="4f81bd"/>
                </a:solidFill>
                <a:latin typeface="Calibri"/>
              </a:rPr>
              <a:t>(</a:t>
            </a:r>
            <a:r>
              <a:rPr b="0" lang="en-IN" sz="1400" spc="-1" strike="noStrike">
                <a:solidFill>
                  <a:srgbClr val="000000"/>
                </a:solidFill>
                <a:latin typeface="Calibri"/>
              </a:rPr>
              <a:t>End-to-end solution architecture)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	</a:t>
            </a:r>
            <a:br>
              <a:rPr sz="3200"/>
            </a:b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423720" y="1066320"/>
            <a:ext cx="8568000" cy="40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just">
              <a:lnSpc>
                <a:spcPct val="10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601"/>
              </a:spcBef>
              <a:spcAft>
                <a:spcPts val="1199"/>
              </a:spcAft>
              <a:buClr>
                <a:srgbClr val="0f172a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0f172a"/>
                </a:solidFill>
                <a:latin typeface="Calibri"/>
              </a:rPr>
              <a:t>Input → JCL scheduling → COBOL processing → DB2 data layer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601"/>
              </a:spcBef>
              <a:spcAft>
                <a:spcPts val="1199"/>
              </a:spcAft>
              <a:buClr>
                <a:srgbClr val="0f172a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0f172a"/>
                </a:solidFill>
                <a:latin typeface="Calibri"/>
              </a:rPr>
              <a:t>REXX automation / utilities where applicable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601"/>
              </a:spcBef>
              <a:spcAft>
                <a:spcPts val="1199"/>
              </a:spcAft>
              <a:buClr>
                <a:srgbClr val="0f172a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0f172a"/>
                </a:solidFill>
                <a:latin typeface="Calibri"/>
              </a:rPr>
              <a:t>Output datasets / reports / interfaces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601"/>
              </a:spcBef>
              <a:spcAft>
                <a:spcPts val="1199"/>
              </a:spcAft>
              <a:buClr>
                <a:srgbClr val="0f172a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0f172a"/>
                </a:solidFill>
                <a:latin typeface="Calibri"/>
              </a:rPr>
              <a:t>Security, logging and operational controls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9" name="Picture 3" descr=""/>
          <p:cNvPicPr/>
          <p:nvPr/>
        </p:nvPicPr>
        <p:blipFill>
          <a:blip r:embed="rId1"/>
          <a:stretch/>
        </p:blipFill>
        <p:spPr>
          <a:xfrm>
            <a:off x="8077320" y="152280"/>
            <a:ext cx="723960" cy="762120"/>
          </a:xfrm>
          <a:prstGeom prst="rect">
            <a:avLst/>
          </a:prstGeom>
          <a:ln w="0">
            <a:noFill/>
          </a:ln>
        </p:spPr>
      </p:pic>
      <p:sp>
        <p:nvSpPr>
          <p:cNvPr id="40" name="Date Placeholder 1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A2D7973-02E4-4171-92F7-FD9A83F13E11}" type="datetime">
              <a:rPr b="0" lang="en-US" sz="1200" spc="-1" strike="noStrike">
                <a:solidFill>
                  <a:srgbClr val="898989"/>
                </a:solidFill>
                <a:latin typeface="Calibri"/>
              </a:rPr>
              <a:t>10/05/26</a:t>
            </a:fld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Slide Number Placeholder 2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D4EF7D6-885A-4F84-976B-C1A70DC6734E}" type="slidenum">
              <a:rPr b="0" lang="en-US" sz="1200" spc="-1" strike="noStrike">
                <a:solidFill>
                  <a:srgbClr val="898989"/>
                </a:solidFill>
                <a:latin typeface="Calibri"/>
                <a:ea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Footer Placeholder 3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898989"/>
                </a:solidFill>
                <a:latin typeface="Calibri"/>
              </a:rPr>
              <a:t>Department of Computer Engineering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304560" y="533160"/>
            <a:ext cx="8458200" cy="53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000" spc="-1" strike="noStrike">
                <a:solidFill>
                  <a:srgbClr val="4f81bd"/>
                </a:solidFill>
                <a:latin typeface="Calibri"/>
              </a:rPr>
              <a:t>Mainframe Methodology</a:t>
            </a:r>
            <a:r>
              <a:rPr b="0" lang="en-US" sz="1400" spc="-1" strike="noStrike">
                <a:solidFill>
                  <a:srgbClr val="4f81bd"/>
                </a:solidFill>
                <a:latin typeface="Calibri"/>
              </a:rPr>
              <a:t>(</a:t>
            </a:r>
            <a:r>
              <a:rPr b="0" lang="en-IN" sz="1400" spc="-1" strike="noStrike">
                <a:solidFill>
                  <a:srgbClr val="000000"/>
                </a:solidFill>
                <a:latin typeface="Calibri"/>
              </a:rPr>
              <a:t>Development and execution methodology)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	</a:t>
            </a:r>
            <a:br>
              <a:rPr sz="3200"/>
            </a:b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23720" y="1066320"/>
            <a:ext cx="8568000" cy="40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just">
              <a:lnSpc>
                <a:spcPct val="10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601"/>
              </a:spcBef>
              <a:spcAft>
                <a:spcPts val="1199"/>
              </a:spcAft>
              <a:buClr>
                <a:srgbClr val="0f172a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f172a"/>
                </a:solidFill>
                <a:latin typeface="Calibri"/>
              </a:rPr>
              <a:t>Requirement analysis and data definition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601"/>
              </a:spcBef>
              <a:spcAft>
                <a:spcPts val="1199"/>
              </a:spcAft>
              <a:buClr>
                <a:srgbClr val="0f172a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f172a"/>
                </a:solidFill>
                <a:latin typeface="Calibri"/>
              </a:rPr>
              <a:t>Dataset design and job design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601"/>
              </a:spcBef>
              <a:spcAft>
                <a:spcPts val="1199"/>
              </a:spcAft>
              <a:buClr>
                <a:srgbClr val="0f172a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f172a"/>
                </a:solidFill>
                <a:latin typeface="Calibri"/>
              </a:rPr>
              <a:t>Program development and unit testing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601"/>
              </a:spcBef>
              <a:spcAft>
                <a:spcPts val="1199"/>
              </a:spcAft>
              <a:buClr>
                <a:srgbClr val="0f172a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f172a"/>
                </a:solidFill>
                <a:latin typeface="Calibri"/>
              </a:rPr>
              <a:t>Integration testing and batch execution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601"/>
              </a:spcBef>
              <a:spcAft>
                <a:spcPts val="1199"/>
              </a:spcAft>
              <a:buClr>
                <a:srgbClr val="0f172a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f172a"/>
                </a:solidFill>
                <a:latin typeface="Calibri"/>
              </a:rPr>
              <a:t>Error handling, restart/recovery and validation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45" name="Picture 3" descr=""/>
          <p:cNvPicPr/>
          <p:nvPr/>
        </p:nvPicPr>
        <p:blipFill>
          <a:blip r:embed="rId1"/>
          <a:stretch/>
        </p:blipFill>
        <p:spPr>
          <a:xfrm>
            <a:off x="8077320" y="152280"/>
            <a:ext cx="723960" cy="762120"/>
          </a:xfrm>
          <a:prstGeom prst="rect">
            <a:avLst/>
          </a:prstGeom>
          <a:ln w="0">
            <a:noFill/>
          </a:ln>
        </p:spPr>
      </p:pic>
      <p:sp>
        <p:nvSpPr>
          <p:cNvPr id="46" name="Date Placeholder 1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217C74D-0130-4B5A-B998-1E1AF7C6988C}" type="datetime">
              <a:rPr b="0" lang="en-US" sz="1200" spc="-1" strike="noStrike">
                <a:solidFill>
                  <a:srgbClr val="898989"/>
                </a:solidFill>
                <a:latin typeface="Calibri"/>
              </a:rPr>
              <a:t>10/05/26</a:t>
            </a:fld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Slide Number Placeholder 2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4268D90-A295-49D1-AB73-EAD7AD43E76D}" type="slidenum">
              <a:rPr b="0" lang="en-US" sz="1200" spc="-1" strike="noStrike">
                <a:solidFill>
                  <a:srgbClr val="898989"/>
                </a:solidFill>
                <a:latin typeface="Calibri"/>
                <a:ea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Footer Placeholder 3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898989"/>
                </a:solidFill>
                <a:latin typeface="Calibri"/>
              </a:rPr>
              <a:t>Department of Computer Engineering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304560" y="533160"/>
            <a:ext cx="8458200" cy="53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000" spc="-1" strike="noStrike">
                <a:solidFill>
                  <a:srgbClr val="4f81bd"/>
                </a:solidFill>
                <a:latin typeface="Calibri"/>
              </a:rPr>
              <a:t>Dataset &amp; File Operations</a:t>
            </a:r>
            <a:r>
              <a:rPr b="0" lang="en-US" sz="1400" spc="-1" strike="noStrike">
                <a:solidFill>
                  <a:srgbClr val="4f81bd"/>
                </a:solidFill>
                <a:latin typeface="Calibri"/>
              </a:rPr>
              <a:t>(</a:t>
            </a:r>
            <a:r>
              <a:rPr b="0" lang="en-IN" sz="1400" spc="-1" strike="noStrike">
                <a:solidFill>
                  <a:srgbClr val="000000"/>
                </a:solidFill>
                <a:latin typeface="Calibri"/>
              </a:rPr>
              <a:t>VSAM / sequential dataset handling)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	</a:t>
            </a:r>
            <a:br>
              <a:rPr sz="3200"/>
            </a:b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23720" y="1066320"/>
            <a:ext cx="8568000" cy="40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just">
              <a:lnSpc>
                <a:spcPct val="10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601"/>
              </a:spcBef>
              <a:spcAft>
                <a:spcPts val="1199"/>
              </a:spcAft>
              <a:buClr>
                <a:srgbClr val="0f172a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0f172a"/>
                </a:solidFill>
                <a:latin typeface="Calibri"/>
              </a:rPr>
              <a:t>CREATE / DEFINE datasets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601"/>
              </a:spcBef>
              <a:spcAft>
                <a:spcPts val="1199"/>
              </a:spcAft>
              <a:buClr>
                <a:srgbClr val="0f172a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0f172a"/>
                </a:solidFill>
                <a:latin typeface="Calibri"/>
              </a:rPr>
              <a:t>ALLOCATE, COPY, RENAME and DELETE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601"/>
              </a:spcBef>
              <a:spcAft>
                <a:spcPts val="1199"/>
              </a:spcAft>
              <a:buClr>
                <a:srgbClr val="0f172a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0f172a"/>
                </a:solidFill>
                <a:latin typeface="Calibri"/>
              </a:rPr>
              <a:t>CATALOG / UNCATALOG where required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601"/>
              </a:spcBef>
              <a:spcAft>
                <a:spcPts val="1199"/>
              </a:spcAft>
              <a:buClr>
                <a:srgbClr val="0f172a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0f172a"/>
                </a:solidFill>
                <a:latin typeface="Calibri"/>
              </a:rPr>
              <a:t>DISP, SPACE, DCB, UNIT and volume considerations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51" name="Picture 3" descr=""/>
          <p:cNvPicPr/>
          <p:nvPr/>
        </p:nvPicPr>
        <p:blipFill>
          <a:blip r:embed="rId1"/>
          <a:stretch/>
        </p:blipFill>
        <p:spPr>
          <a:xfrm>
            <a:off x="8077320" y="152280"/>
            <a:ext cx="723960" cy="762120"/>
          </a:xfrm>
          <a:prstGeom prst="rect">
            <a:avLst/>
          </a:prstGeom>
          <a:ln w="0">
            <a:noFill/>
          </a:ln>
        </p:spPr>
      </p:pic>
      <p:sp>
        <p:nvSpPr>
          <p:cNvPr id="52" name="Date Placeholder 1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7F7C733-AC1C-4794-8804-ACA1172F8416}" type="datetime">
              <a:rPr b="0" lang="en-US" sz="1200" spc="-1" strike="noStrike">
                <a:solidFill>
                  <a:srgbClr val="898989"/>
                </a:solidFill>
                <a:latin typeface="Calibri"/>
              </a:rPr>
              <a:t>10/05/26</a:t>
            </a:fld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Slide Number Placeholder 2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5A89DAB-9EB7-46D9-924D-072A1F417A6C}" type="slidenum">
              <a:rPr b="0" lang="en-US" sz="1200" spc="-1" strike="noStrike">
                <a:solidFill>
                  <a:srgbClr val="898989"/>
                </a:solidFill>
                <a:latin typeface="Calibri"/>
                <a:ea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Footer Placeholder 3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898989"/>
                </a:solidFill>
                <a:latin typeface="Calibri"/>
              </a:rPr>
              <a:t>Department of Computer Engineering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04560" y="533160"/>
            <a:ext cx="8458200" cy="53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000" spc="-1" strike="noStrike">
                <a:solidFill>
                  <a:srgbClr val="4f81bd"/>
                </a:solidFill>
                <a:latin typeface="Calibri"/>
              </a:rPr>
              <a:t>Dataset &amp; File Operations</a:t>
            </a:r>
            <a:r>
              <a:rPr b="0" lang="en-US" sz="1400" spc="-1" strike="noStrike">
                <a:solidFill>
                  <a:srgbClr val="4f81bd"/>
                </a:solidFill>
                <a:latin typeface="Calibri"/>
              </a:rPr>
              <a:t>(</a:t>
            </a:r>
            <a:r>
              <a:rPr b="0" lang="en-IN" sz="1400" spc="-1" strike="noStrike">
                <a:solidFill>
                  <a:srgbClr val="000000"/>
                </a:solidFill>
                <a:latin typeface="Calibri"/>
              </a:rPr>
              <a:t>VSAM / sequential dataset handling)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	</a:t>
            </a:r>
            <a:br>
              <a:rPr sz="3200"/>
            </a:b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23720" y="1066320"/>
            <a:ext cx="8568000" cy="40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just">
              <a:lnSpc>
                <a:spcPct val="10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601"/>
              </a:spcBef>
              <a:spcAft>
                <a:spcPts val="1199"/>
              </a:spcAft>
              <a:buClr>
                <a:srgbClr val="0f172a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0f172a"/>
                </a:solidFill>
                <a:latin typeface="Calibri"/>
              </a:rPr>
              <a:t>CREATE / DEFINE datasets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601"/>
              </a:spcBef>
              <a:spcAft>
                <a:spcPts val="1199"/>
              </a:spcAft>
              <a:buClr>
                <a:srgbClr val="0f172a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0f172a"/>
                </a:solidFill>
                <a:latin typeface="Calibri"/>
              </a:rPr>
              <a:t>ALLOCATE, COPY, RENAME and DELETE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601"/>
              </a:spcBef>
              <a:spcAft>
                <a:spcPts val="1199"/>
              </a:spcAft>
              <a:buClr>
                <a:srgbClr val="0f172a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0f172a"/>
                </a:solidFill>
                <a:latin typeface="Calibri"/>
              </a:rPr>
              <a:t>CATALOG / UNCATALOG where required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601"/>
              </a:spcBef>
              <a:spcAft>
                <a:spcPts val="1199"/>
              </a:spcAft>
              <a:buClr>
                <a:srgbClr val="0f172a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0f172a"/>
                </a:solidFill>
                <a:latin typeface="Calibri"/>
              </a:rPr>
              <a:t>DISP, SPACE, DCB, UNIT and volume considerations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57" name="Picture 3" descr=""/>
          <p:cNvPicPr/>
          <p:nvPr/>
        </p:nvPicPr>
        <p:blipFill>
          <a:blip r:embed="rId1"/>
          <a:stretch/>
        </p:blipFill>
        <p:spPr>
          <a:xfrm>
            <a:off x="8077320" y="152280"/>
            <a:ext cx="723960" cy="762120"/>
          </a:xfrm>
          <a:prstGeom prst="rect">
            <a:avLst/>
          </a:prstGeom>
          <a:ln w="0">
            <a:noFill/>
          </a:ln>
        </p:spPr>
      </p:pic>
      <p:sp>
        <p:nvSpPr>
          <p:cNvPr id="58" name="Date Placeholder 1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5A049E7-95D1-4E49-B905-FF36BB73FC6B}" type="datetime">
              <a:rPr b="0" lang="en-US" sz="1200" spc="-1" strike="noStrike">
                <a:solidFill>
                  <a:srgbClr val="898989"/>
                </a:solidFill>
                <a:latin typeface="Calibri"/>
              </a:rPr>
              <a:t>10/05/26</a:t>
            </a:fld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Slide Number Placeholder 2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FFAA685-D21A-46A9-965D-57093329C15A}" type="slidenum">
              <a:rPr b="0" lang="en-US" sz="1200" spc="-1" strike="noStrike">
                <a:solidFill>
                  <a:srgbClr val="898989"/>
                </a:solidFill>
                <a:latin typeface="Calibri"/>
                <a:ea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Footer Placeholder 3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898989"/>
                </a:solidFill>
                <a:latin typeface="Calibri"/>
              </a:rPr>
              <a:t>Department of Computer Engineering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304560" y="533160"/>
            <a:ext cx="8458200" cy="53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000" spc="-1" strike="noStrike">
                <a:solidFill>
                  <a:srgbClr val="4f81bd"/>
                </a:solidFill>
                <a:latin typeface="Calibri"/>
              </a:rPr>
              <a:t>Points to be Covered</a:t>
            </a:r>
            <a:r>
              <a:rPr b="0" lang="en-US" sz="3000" spc="-1" strike="noStrike">
                <a:solidFill>
                  <a:srgbClr val="4f81bd"/>
                </a:solidFill>
                <a:latin typeface="Calibri"/>
              </a:rPr>
              <a:t>	</a:t>
            </a:r>
            <a:br>
              <a:rPr sz="3000"/>
            </a:br>
            <a:endParaRPr b="0" lang="en-US" sz="3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533520" y="1371240"/>
            <a:ext cx="8229600" cy="472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601"/>
              </a:spcBef>
              <a:buClr>
                <a:srgbClr val="12233a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pc="-1" strike="noStrike">
                <a:solidFill>
                  <a:srgbClr val="12233a"/>
                </a:solidFill>
                <a:latin typeface="Calibri"/>
              </a:rPr>
              <a:t>Results &amp; Performance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spcBef>
                <a:spcPts val="601"/>
              </a:spcBef>
              <a:buClr>
                <a:srgbClr val="12233a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pc="-1" strike="noStrike">
                <a:solidFill>
                  <a:srgbClr val="12233a"/>
                </a:solidFill>
                <a:latin typeface="Calibri"/>
              </a:rPr>
              <a:t>Challenges &amp; Solutions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spcBef>
                <a:spcPts val="601"/>
              </a:spcBef>
              <a:buClr>
                <a:srgbClr val="12233a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pc="-1" strike="noStrike">
                <a:solidFill>
                  <a:srgbClr val="12233a"/>
                </a:solidFill>
                <a:latin typeface="Calibri"/>
              </a:rPr>
              <a:t>Conclusion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spcBef>
                <a:spcPts val="601"/>
              </a:spcBef>
              <a:buClr>
                <a:srgbClr val="12233a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pc="-1" strike="noStrike">
                <a:solidFill>
                  <a:srgbClr val="12233a"/>
                </a:solidFill>
                <a:latin typeface="Calibri"/>
              </a:rPr>
              <a:t>Future Enhancements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spcBef>
                <a:spcPts val="601"/>
              </a:spcBef>
              <a:buClr>
                <a:srgbClr val="12233a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pc="-1" strike="noStrike">
                <a:solidFill>
                  <a:srgbClr val="12233a"/>
                </a:solidFill>
                <a:latin typeface="Calibri"/>
              </a:rPr>
              <a:t>References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0"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 algn="just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63" name="Picture 3" descr=""/>
          <p:cNvPicPr/>
          <p:nvPr/>
        </p:nvPicPr>
        <p:blipFill>
          <a:blip r:embed="rId1"/>
          <a:stretch/>
        </p:blipFill>
        <p:spPr>
          <a:xfrm>
            <a:off x="8077320" y="152280"/>
            <a:ext cx="723960" cy="762120"/>
          </a:xfrm>
          <a:prstGeom prst="rect">
            <a:avLst/>
          </a:prstGeom>
          <a:ln w="0">
            <a:noFill/>
          </a:ln>
        </p:spPr>
      </p:pic>
      <p:sp>
        <p:nvSpPr>
          <p:cNvPr id="64" name="Date Placeholder 1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7C6412D-0942-49F5-B26B-984EB62C0C59}" type="datetime">
              <a:rPr b="0" lang="en-US" sz="1200" spc="-1" strike="noStrike">
                <a:solidFill>
                  <a:srgbClr val="898989"/>
                </a:solidFill>
                <a:latin typeface="Calibri"/>
              </a:rPr>
              <a:t>10/05/26</a:t>
            </a:fld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Slide Number Placeholder 2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D5D1277-91AF-414C-94EC-68735D698FE4}" type="slidenum">
              <a:rPr b="0" lang="en-US" sz="1200" spc="-1" strike="noStrike">
                <a:solidFill>
                  <a:srgbClr val="898989"/>
                </a:solidFill>
                <a:latin typeface="Calibri"/>
                <a:ea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Footer Placeholder 3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898989"/>
                </a:solidFill>
                <a:latin typeface="Calibri"/>
              </a:rPr>
              <a:t>Department of Computer Engineering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/>
          </p:nvPr>
        </p:nvSpPr>
        <p:spPr>
          <a:xfrm>
            <a:off x="762120" y="2438280"/>
            <a:ext cx="7772400" cy="182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spcBef>
                <a:spcPts val="2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0" spc="-1" strike="noStrike">
                <a:solidFill>
                  <a:srgbClr val="4f81bd"/>
                </a:solidFill>
                <a:latin typeface="Calibri"/>
                <a:ea typeface="MS PGothic"/>
              </a:rPr>
              <a:t>Thank You</a:t>
            </a:r>
            <a:endParaRPr b="0" lang="en-US" sz="8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Date Placeholder 1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0BFC052-C5FB-4673-9CEA-F96E225421F9}" type="datetime">
              <a:rPr b="0" lang="en-US" sz="1200" spc="-1" strike="noStrike">
                <a:solidFill>
                  <a:srgbClr val="898989"/>
                </a:solidFill>
                <a:latin typeface="Calibri"/>
              </a:rPr>
              <a:t>10/05/26</a:t>
            </a:fld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Slide Number Placeholder 2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F58D08E-3F57-4753-8CD4-F00A1383A625}" type="slidenum">
              <a:rPr b="0" lang="en-US" sz="1200" spc="-1" strike="noStrike">
                <a:solidFill>
                  <a:srgbClr val="898989"/>
                </a:solidFill>
                <a:latin typeface="Calibri"/>
                <a:ea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Footer Placeholder 3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898989"/>
                </a:solidFill>
                <a:latin typeface="Calibri"/>
              </a:rPr>
              <a:t>Department of Computer Engineering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1981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2016-12-23T07:03:43Z</dcterms:created>
  <dc:creator>OEXAM</dc:creator>
  <dc:description/>
  <dc:language>en-US</dc:language>
  <cp:lastModifiedBy>madhurasanap@gmail.com</cp:lastModifiedBy>
  <dcterms:modified xsi:type="dcterms:W3CDTF">2026-09-01T02:58:58Z</dcterms:modified>
  <cp:revision>216</cp:revision>
  <dc:subject/>
  <dc:title>PowerPoint Presentation</dc:title>
</cp:coreProperties>
</file>